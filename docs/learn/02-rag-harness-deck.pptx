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Ariadne 완전 해설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731520" y="30632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AI는 어떻게 “내 자료로” 똑똑하게 답하나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37033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RAG · 에이전트 하네스 · 레포 구조 — 기초 0에서 시작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436876" y="4937760"/>
            <a:ext cx="2194560" cy="640080"/>
          </a:xfrm>
          <a:prstGeom prst="roundRect">
            <a:avLst>
              <a:gd name="adj" fmla="val 50000"/>
            </a:avLst>
          </a:prstGeom>
          <a:solidFill>
            <a:srgbClr val="0E7C66"/>
          </a:solidFill>
          <a:ln/>
        </p:spPr>
      </p:sp>
      <p:sp>
        <p:nvSpPr>
          <p:cNvPr id="6" name="Text 4"/>
          <p:cNvSpPr/>
          <p:nvPr/>
        </p:nvSpPr>
        <p:spPr>
          <a:xfrm>
            <a:off x="2436876" y="49377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검색 (RAG)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997196" y="4937760"/>
            <a:ext cx="2194560" cy="640080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/>
        </p:spPr>
      </p:sp>
      <p:sp>
        <p:nvSpPr>
          <p:cNvPr id="8" name="Text 6"/>
          <p:cNvSpPr/>
          <p:nvPr/>
        </p:nvSpPr>
        <p:spPr>
          <a:xfrm>
            <a:off x="4997196" y="49377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하네스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557516" y="4937760"/>
            <a:ext cx="2194560" cy="6400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7557516" y="49377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LLM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40A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장 요약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큰 그림 — 질문이 답이 되기까지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37744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내 질문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651760" y="3063240"/>
            <a:ext cx="292608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990088" y="237744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E6F2E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081528" y="237744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7C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검색 (RAG)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E7C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관련 자료 찾기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01768" y="3063240"/>
            <a:ext cx="292608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340096" y="237744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E8ED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31536" y="237744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하네스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계획→실행→재계획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51776" y="3063240"/>
            <a:ext cx="292608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690104" y="237744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F1E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81544" y="237744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LLM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글 생성기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701784" y="3063240"/>
            <a:ext cx="292608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0040112" y="237744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131552" y="237744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근거 있는 답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4297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핵심: LLM은 똑똑하지만 “내 자료·최신 정보”를 모릅니다. 그래서 ① 관련 자료를 찾아(RAG) ② 단계적으로 처리하고(하네스) ③ LLM에 같이 줍니다.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덱은 위 다섯 상자를 한 장에 하나씩, 바닥부터 풉니다.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2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17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22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25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27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32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35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37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① 출발점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LLM = 다음 단어 예측기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4864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세상 책을 거의 다 읽은 사람에게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“빈칸 채우기”를 시키는 것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단어를 확률로 고르고 → 문장에 붙이고 → 또 다음 빈칸…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이걸 수백 번 반복하면 문단·코드·답이 됩니다.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1737360"/>
            <a:ext cx="5120640" cy="2743200"/>
          </a:xfrm>
          <a:prstGeom prst="roundRect">
            <a:avLst>
              <a:gd name="adj" fmla="val 2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7512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“아침에 일어나서 나는 ___”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75120" y="24688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커피를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01000" y="2487168"/>
            <a:ext cx="2720340" cy="274320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9260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세수를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01000" y="2944368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1E40AF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0" y="33832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학교에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01000" y="3401568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0E7C66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38404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우주로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01000" y="3858768"/>
            <a:ext cx="384048" cy="274320"/>
          </a:xfrm>
          <a:prstGeom prst="roundRect">
            <a:avLst>
              <a:gd name="adj" fmla="val 16667"/>
            </a:avLst>
          </a:prstGeom>
          <a:solidFill>
            <a:srgbClr val="64748B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4846320"/>
            <a:ext cx="3566160" cy="685800"/>
          </a:xfrm>
          <a:prstGeom prst="roundRect">
            <a:avLst>
              <a:gd name="adj" fmla="val 13333"/>
            </a:avLst>
          </a:prstGeom>
          <a:solidFill>
            <a:srgbClr val="FBEFE2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8463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내 자료를 모름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361688" y="4846320"/>
            <a:ext cx="3566160" cy="685800"/>
          </a:xfrm>
          <a:prstGeom prst="roundRect">
            <a:avLst>
              <a:gd name="adj" fmla="val 13333"/>
            </a:avLst>
          </a:prstGeom>
          <a:solidFill>
            <a:srgbClr val="FBEFE2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61688" y="48463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최신 정보 없음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083296" y="4846320"/>
            <a:ext cx="3566160" cy="685800"/>
          </a:xfrm>
          <a:prstGeom prst="roundRect">
            <a:avLst>
              <a:gd name="adj" fmla="val 13333"/>
            </a:avLst>
          </a:prstGeom>
          <a:solidFill>
            <a:srgbClr val="FBEFE2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83296" y="48463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모르면 지어냄 = 환각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5715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Ariadne 기본 로컬 모델: qwen3:8b — 작고 빠른 만큼 위 한계가 도드라져, RAG·하네스가 더 중요해집니다.</a:t>
            </a:r>
            <a:endParaRPr lang="en-US" sz="1250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4530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② 문제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똑똑한데 왜 자꾸 틀리나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질문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75488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LLM 혼자서는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503920" y="1783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왜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28600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“내 포트폴리오 테슬라 비중?”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228600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아무 숫자나 지어냄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503920" y="228600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내 파일을 본 적 없음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2918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329184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“어제 발표된 환율?”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329184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옛날 값 또는 추측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503920" y="32918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훈련 이후 정보 없음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29768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8680" y="429768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“이 코드의 이 함수 뭐함?”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54880" y="429768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비슷한 코드로 때려맞힘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503920" y="429768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내 레포를 모름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553212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E6F2E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532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본질: LLM 머릿속에 답에 필요한 자료가 없다 →  답하기 전에 찾아서 같이 주자 = RAG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③ 해결책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RAG = 오픈북 시험으로 바꾸기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94960" cy="3931920"/>
          </a:xfrm>
          <a:prstGeom prst="roundRect">
            <a:avLst>
              <a:gd name="adj" fmla="val 1860"/>
            </a:avLst>
          </a:prstGeom>
          <a:solidFill>
            <a:srgbClr val="FBEFE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0574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암기 시험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= LLM 혼자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320040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머릿속 기억에만 의존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모르면 찍는다 (환각)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5394960" cy="3931920"/>
          </a:xfrm>
          <a:prstGeom prst="roundRect">
            <a:avLst>
              <a:gd name="adj" fmla="val 1860"/>
            </a:avLst>
          </a:prstGeom>
          <a:solidFill>
            <a:srgbClr val="E6F2E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17920" y="20574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7C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오픈북 시험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217920" y="25146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= RAG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0" y="320040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관련 페이지를 먼저 펼쳐주고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풀게 한다 → 근거를 보고 답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RAG가 환각을 줄이는 이유 — LLM이 “기억”이 아니라 “지금 눈앞의 자료”를 보고 답하기 때문. 상상으로 채우는 대신 복사·요약하게 됩니다.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③ RAG 흐름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검색 → 선별 → 합치기 → 생성 → 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2606040"/>
            <a:ext cx="502920" cy="502920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검색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35661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창고에서 관련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조각 꺼내기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633472" y="3291840"/>
            <a:ext cx="310896" cy="0"/>
          </a:xfrm>
          <a:prstGeom prst="line">
            <a:avLst/>
          </a:prstGeom>
          <a:noFill/>
          <a:ln w="31750">
            <a:solidFill>
              <a:srgbClr val="0E7C6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971800" y="237744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03320" y="2606040"/>
            <a:ext cx="502920" cy="502920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12" name="Text 10"/>
          <p:cNvSpPr/>
          <p:nvPr/>
        </p:nvSpPr>
        <p:spPr>
          <a:xfrm>
            <a:off x="370332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971800" y="32004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선별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063240" y="35661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가장 관련 높은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6개만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965192" y="3291840"/>
            <a:ext cx="310896" cy="0"/>
          </a:xfrm>
          <a:prstGeom prst="line">
            <a:avLst/>
          </a:prstGeom>
          <a:noFill/>
          <a:ln w="31750">
            <a:solidFill>
              <a:srgbClr val="0E7C6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303520" y="237744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2606040"/>
            <a:ext cx="502920" cy="502920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18" name="Text 16"/>
          <p:cNvSpPr/>
          <p:nvPr/>
        </p:nvSpPr>
        <p:spPr>
          <a:xfrm>
            <a:off x="603504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03520" y="32004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합치기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394960" y="35661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자료 + 질문을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덩어리로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296912" y="3291840"/>
            <a:ext cx="310896" cy="0"/>
          </a:xfrm>
          <a:prstGeom prst="line">
            <a:avLst/>
          </a:prstGeom>
          <a:noFill/>
          <a:ln w="31750">
            <a:solidFill>
              <a:srgbClr val="0E7C66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635240" y="237744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366760" y="2606040"/>
            <a:ext cx="502920" cy="502920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24" name="Text 22"/>
          <p:cNvSpPr/>
          <p:nvPr/>
        </p:nvSpPr>
        <p:spPr>
          <a:xfrm>
            <a:off x="836676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635240" y="32004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생성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726680" y="35661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그걸 보고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LLM이 답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9628632" y="3291840"/>
            <a:ext cx="310896" cy="0"/>
          </a:xfrm>
          <a:prstGeom prst="line">
            <a:avLst/>
          </a:prstGeom>
          <a:noFill/>
          <a:ln w="31750">
            <a:solidFill>
              <a:srgbClr val="0E7C66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966960" y="237744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698480" y="2606040"/>
            <a:ext cx="502920" cy="502920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30" name="Text 28"/>
          <p:cNvSpPr/>
          <p:nvPr/>
        </p:nvSpPr>
        <p:spPr>
          <a:xfrm>
            <a:off x="1069848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966960" y="32004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답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10058400" y="35661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출처 [1]까지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붙은 답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40080" y="4937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관건은 ①검색 — “관련 있는 조각”을 어떻게 찾느냐. 다음 3장이 그 내부입니다.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2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17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22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25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27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32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35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37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42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47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50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52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55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57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60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62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65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67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afterEffect">
                                  <p:stCondLst>
                                    <p:cond delay="70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72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④ 검색 내부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청킹 — 책을 포스트잇 단위로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103120" cy="2926080"/>
          </a:xfrm>
          <a:prstGeom prst="roundRect">
            <a:avLst>
              <a:gd name="adj" fmla="val 347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920240"/>
            <a:ext cx="21031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긴 문서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(예: 1000줄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코드)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834640" y="3383280"/>
            <a:ext cx="548640" cy="0"/>
          </a:xfrm>
          <a:prstGeom prst="line">
            <a:avLst/>
          </a:prstGeom>
          <a:noFill/>
          <a:ln w="31750">
            <a:solidFill>
              <a:srgbClr val="0E7C6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566160" y="1920240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E6F2E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66160" y="192024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청크 1 (~800자)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566160" y="2926080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E6F2E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66160" y="292608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청크 2 (~800자)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566160" y="3931920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E6F2E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66160" y="393192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청크 3 (~800자)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4892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↕ 80자 겹침 — 경계에서 문장이 잘려 검색이 안 되는 걸 막음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680960" y="1920240"/>
            <a:ext cx="3931920" cy="3337560"/>
          </a:xfrm>
          <a:prstGeom prst="roundRect">
            <a:avLst>
              <a:gd name="adj" fmla="val 2192"/>
            </a:avLst>
          </a:prstGeom>
          <a:solidFill>
            <a:srgbClr val="E8ED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909560" y="2103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우리가 개선 (P2)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909560" y="251460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조각만 떼면 “어느 파일·절”인지 사라짐. 그래서 맨 앞에 출처를 붙임: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909560" y="3383280"/>
            <a:ext cx="3520440" cy="12344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0" y="347472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DD3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src/pricing.ts › applyLoyaltyDiscount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return Math.round(subtotal * ...)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909560" y="47091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측정: Hit@1  76.5% → 82.4% (LLM 0회, 공짜)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⑤ 검색 내부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임베딩 — 의미를 좌표로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단어가 겹쳐야만 찾으면 약함:  “차 할인” ↔ “자동차 세일” 은 못 찾음.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임베딩 = 문장의 뜻을 숫자 좌표(벡터)로. 뜻이 비슷하면 좌표가 가깝다.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6766560" cy="3200400"/>
          </a:xfrm>
          <a:prstGeom prst="roundRect">
            <a:avLst>
              <a:gd name="adj" fmla="val 228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971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의미의 지도 (벡터 공간)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94560" y="4023360"/>
            <a:ext cx="201168" cy="201168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8" name="Text 6"/>
          <p:cNvSpPr/>
          <p:nvPr/>
        </p:nvSpPr>
        <p:spPr>
          <a:xfrm>
            <a:off x="1645920" y="36758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7C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강아지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08960" y="3657600"/>
            <a:ext cx="201168" cy="201168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33101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7C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51760" y="4754880"/>
            <a:ext cx="201168" cy="201168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12" name="Text 10"/>
          <p:cNvSpPr/>
          <p:nvPr/>
        </p:nvSpPr>
        <p:spPr>
          <a:xfrm>
            <a:off x="2103120" y="4407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7C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고양이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5486400"/>
            <a:ext cx="201168" cy="201168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5760720" y="51389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세금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37360" y="4480560"/>
            <a:ext cx="201168" cy="20116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4133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질문:반려견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56235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‘반려견’ 은 강아지·개 옆, 세금과는 정반대 끝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680960" y="2834640"/>
            <a:ext cx="3931920" cy="3200400"/>
          </a:xfrm>
          <a:prstGeom prst="roundRect">
            <a:avLst>
              <a:gd name="adj" fmla="val 2286"/>
            </a:avLst>
          </a:prstGeom>
          <a:solidFill>
            <a:srgbClr val="E6F2E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955280" y="30632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C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검색 = 질문 좌표에서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E7C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가장 가까운 청크 고르기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955280" y="402336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• 가까움 = 코사인 유사도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• 모델: nomic-embed (로컬)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• 청크 벡터는 SQLite에 저장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• 이게 “의미 검색”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⑥ 검색 내부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세 가지 검색 — 서로의 약점을 메운다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66160" cy="3931920"/>
          </a:xfrm>
          <a:prstGeom prst="roundRect">
            <a:avLst>
              <a:gd name="adj" fmla="val 2051"/>
            </a:avLst>
          </a:prstGeom>
          <a:solidFill>
            <a:srgbClr val="E8ED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0574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키워드 (BM25)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잘하는 것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0632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정확한 단어·희귀 용어·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고유명사·코드 식별자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297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못하는 것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6177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동의어·말바꿈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80560" y="1828800"/>
            <a:ext cx="3566160" cy="3931920"/>
          </a:xfrm>
          <a:prstGeom prst="roundRect">
            <a:avLst>
              <a:gd name="adj" fmla="val 2051"/>
            </a:avLst>
          </a:prstGeom>
          <a:solidFill>
            <a:srgbClr val="E6F2E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80560" y="20574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C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의미 (임베딩)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54880" y="2743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잘하는 것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30632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뜻·동의어·말바꿈·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다른 언어(한↔영)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4297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못하는 것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46177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정확한 철자·희귀 토큰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321040" y="1828800"/>
            <a:ext cx="3566160" cy="3931920"/>
          </a:xfrm>
          <a:prstGeom prst="roundRect">
            <a:avLst>
              <a:gd name="adj" fmla="val 2051"/>
            </a:avLst>
          </a:prstGeom>
          <a:solidFill>
            <a:srgbClr val="F1E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21040" y="20574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심볼 (코드)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95360" y="2743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잘하는 것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95360" y="30632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코드의 함수·클래스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이름 (tree-sitter)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595360" y="4297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못하는 것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595360" y="46177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일반 문장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정반대 약점 → 셋을 합치면(하이브리드) 가장 세진다.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40A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⑥ 합치기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하이브리드 (RRF) — 순위로 합산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4688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9202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BM25 순위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880360"/>
            <a:ext cx="24688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8803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의미 순위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840480"/>
            <a:ext cx="24688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38404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심볼 순위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0" y="2331720"/>
            <a:ext cx="2286000" cy="1280160"/>
          </a:xfrm>
          <a:prstGeom prst="roundRect">
            <a:avLst>
              <a:gd name="adj" fmla="val 7143"/>
            </a:avLst>
          </a:prstGeom>
          <a:solidFill>
            <a:srgbClr val="E8EDFB"/>
          </a:solidFill>
          <a:ln w="19050">
            <a:solidFill>
              <a:srgbClr val="1E40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23317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RRF 합산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1/(60+등수)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154680" y="2194560"/>
            <a:ext cx="457200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154680" y="3154680"/>
            <a:ext cx="457200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154680" y="4114800"/>
            <a:ext cx="457200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035040" y="2971800"/>
            <a:ext cx="457200" cy="0"/>
          </a:xfrm>
          <a:prstGeom prst="line">
            <a:avLst/>
          </a:prstGeom>
          <a:noFill/>
          <a:ln w="31750">
            <a:solidFill>
              <a:srgbClr val="1E40A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583680" y="2331720"/>
            <a:ext cx="18288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83680" y="23317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최종 순위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50292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순위만 쓰니 점수 단위·가중치 조정이 필요 없음 (상수 60 표준).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686800" y="1828800"/>
            <a:ext cx="3017520" cy="4114800"/>
          </a:xfrm>
          <a:prstGeom prst="roundRect">
            <a:avLst>
              <a:gd name="adj" fmla="val 2424"/>
            </a:avLst>
          </a:prstGeom>
          <a:solidFill>
            <a:srgbClr val="E6F2E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686800" y="2011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우리가 개선 (P1)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778240" y="24231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하이브리드가 이미 있었는데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채팅에선 안 쓰이고 있었음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686800" y="3291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첫 결과 정확도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0" y="35204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4530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52.9%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8686800" y="4023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↓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686800" y="43434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7C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76.5%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8686800" y="5029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Hit@1  (+23.6%p)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40A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⑦ 하네스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AI가 스스로 일하게 — 계획→실행→재계획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9659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5146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4530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triage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30632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메시지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어떻게 처리?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33472" y="3154680"/>
            <a:ext cx="310896" cy="0"/>
          </a:xfrm>
          <a:prstGeom prst="line">
            <a:avLst/>
          </a:prstGeom>
          <a:noFill/>
          <a:ln w="31750">
            <a:solidFill>
              <a:srgbClr val="1E40A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971800" y="2286000"/>
            <a:ext cx="19659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71800" y="25146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40A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계획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063240" y="30632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2~5단계로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분해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965192" y="3154680"/>
            <a:ext cx="310896" cy="0"/>
          </a:xfrm>
          <a:prstGeom prst="line">
            <a:avLst/>
          </a:prstGeom>
          <a:noFill/>
          <a:ln w="31750">
            <a:solidFill>
              <a:srgbClr val="1E40A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303520" y="2286000"/>
            <a:ext cx="19659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03520" y="25146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40A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실행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394960" y="30632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도구 사용: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웹·파일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296912" y="3154680"/>
            <a:ext cx="310896" cy="0"/>
          </a:xfrm>
          <a:prstGeom prst="line">
            <a:avLst/>
          </a:prstGeom>
          <a:noFill/>
          <a:ln w="31750">
            <a:solidFill>
              <a:srgbClr val="1E40A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635240" y="2286000"/>
            <a:ext cx="19659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635240" y="25146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40A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점검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726680" y="30632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충분한가?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628632" y="3154680"/>
            <a:ext cx="310896" cy="0"/>
          </a:xfrm>
          <a:prstGeom prst="line">
            <a:avLst/>
          </a:prstGeom>
          <a:noFill/>
          <a:ln w="31750">
            <a:solidFill>
              <a:srgbClr val="1E40A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966960" y="2286000"/>
            <a:ext cx="19659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966960" y="25146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종합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0058400" y="30632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최종 답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작성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2064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B4530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↩ 실패·정보 부실 → 재계획 (최대 2회)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5029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쉬운 분류는 빠른 클라우드 모델(Gemini Flash), 어려운 추론은 로컬 모델 — 일을 난이도로 나눔.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2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17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22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25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27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32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35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37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42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47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50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40A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⑦ 하네스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분신술 — Deep 모드 (병렬 서브에이전트)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0" y="1600200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E8ED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0" y="16002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오케스트레이터 — 분해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80760" y="2377440"/>
            <a:ext cx="0" cy="36576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97480" y="2743200"/>
            <a:ext cx="67665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97480" y="2743200"/>
            <a:ext cx="0" cy="384048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080760" y="2743200"/>
            <a:ext cx="0" cy="384048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464040" y="2743200"/>
            <a:ext cx="0" cy="384048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554480" y="320040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554480" y="32004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서브에이전트 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자기 몫만 깊게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937760" y="320040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32004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서브에이전트 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자기 몫만 깊게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321040" y="320040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21040" y="32004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서브에이전트 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자기 몫만 깊게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697480" y="4114800"/>
            <a:ext cx="0" cy="36576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4114800"/>
            <a:ext cx="0" cy="36576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64040" y="4114800"/>
            <a:ext cx="0" cy="36576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97480" y="4480560"/>
            <a:ext cx="67665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0760" y="4480560"/>
            <a:ext cx="0" cy="384048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572000" y="4846320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F1E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0" y="48463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종합 → 통합 답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58978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각 서브에이전트는 자세한 조사 과정을 자기 안에 가두고, 오케스트레이터엔 요약만 돌려줌 (작업기억 절약). 비용이 크니 사용자가 켤 때만.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4530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⑧ 속도·지능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컨텍스트 엔지니어링 — 작업기억 아끼기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LLM이 한 번에 보는 글의 양(작업기억)은 한정 + 꽉 채울수록 중간을 잊음. “무엇을·얼마나·어떤 순서로” 넣느냐가 품질을 좌우.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E6F2E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26080"/>
            <a:ext cx="457200" cy="457200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29718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압축 (compaction)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65760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긴 대화를 구조화 요약으로 접기. 결정·미해결·사실 섹션으로 나눠 중요한 게 안 날아가게.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480560" y="2651760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E8ED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2926080"/>
            <a:ext cx="457200" cy="45720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49240" y="29718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캐싱 (caching)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54880" y="365760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프롬프트 앞부분을 똑같이 유지 → 그 계산을 재활용(속도). 변하는 건 뒤쪽에. 앞을 흔들면 느려짐.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321040" y="2651760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F1E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95360" y="292608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859536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89720" y="29718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라우팅 (routing)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95360" y="365760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일을 난이도로 나눠 다른 모델에 배정. 쉬운 분류=빠른 모델, 어려운 추론=똑똑한 모델.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0080" y="55778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Tier 3: 로컬 ollama 컨텍스트 창 4096 → 16384 (자료 뒷부분 잘림 해소) + 모델 상주(로딩 지연 제거).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40A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⑨ 구조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레포(Ariadne) — 모노레포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97480" cy="2011680"/>
          </a:xfrm>
          <a:prstGeom prst="roundRect">
            <a:avLst>
              <a:gd name="adj" fmla="val 3636"/>
            </a:avLst>
          </a:prstGeom>
          <a:solidFill>
            <a:srgbClr val="E6F2E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57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6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apps/web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화면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React · Vite · Tailwind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566160" y="1828800"/>
            <a:ext cx="2697480" cy="2011680"/>
          </a:xfrm>
          <a:prstGeom prst="roundRect">
            <a:avLst>
              <a:gd name="adj" fmla="val 3636"/>
            </a:avLst>
          </a:prstGeom>
          <a:solidFill>
            <a:srgbClr val="E8ED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2057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apps/server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749040" y="25603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두뇌 — 에이전트·검색·LLM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49040" y="3291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Fastify · SQLite · tree-sitter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92240" y="1828800"/>
            <a:ext cx="2697480" cy="2011680"/>
          </a:xfrm>
          <a:prstGeom prst="roundRect">
            <a:avLst>
              <a:gd name="adj" fmla="val 3636"/>
            </a:avLst>
          </a:prstGeom>
          <a:solidFill>
            <a:srgbClr val="F1E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75120" y="2057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apps/desktop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75120" y="25603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데스크톱 포장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75120" y="3291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Tauri (Rust)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418320" y="1828800"/>
            <a:ext cx="2697480" cy="2011680"/>
          </a:xfrm>
          <a:prstGeom prst="roundRect">
            <a:avLst>
              <a:gd name="adj" fmla="val 363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01200" y="2057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packages/shared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0" y="25603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공용 타입·설정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0" y="3291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TypeScript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29768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8680" y="44348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멀티 프로바이더 게이트웨이 — “어느 LLM을 쓸지” 한곳에서 갈아끼움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68680" y="4892040"/>
            <a:ext cx="5212080" cy="685800"/>
          </a:xfrm>
          <a:prstGeom prst="roundRect">
            <a:avLst>
              <a:gd name="adj" fmla="val 13333"/>
            </a:avLst>
          </a:prstGeom>
          <a:solidFill>
            <a:srgbClr val="E6F2EF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489204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Ollama (로컬) — qwen3:8b · nomic-embed · 키 불필요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63640" y="4892040"/>
            <a:ext cx="5212080" cy="685800"/>
          </a:xfrm>
          <a:prstGeom prst="roundRect">
            <a:avLst>
              <a:gd name="adj" fmla="val 13333"/>
            </a:avLst>
          </a:prstGeom>
          <a:solidFill>
            <a:srgbClr val="E8EDFB"/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489204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Gemini / Moonshot (클라우드) — 필요할 때만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기본은 로컬 = local-first. 인터넷·계정 없이도 동작.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⑩ 증명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“좋아졌다”를 느낌이 아니라 숫자로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9202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검색 코드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변경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697480" y="2468880"/>
            <a:ext cx="320040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063240" y="1920240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E6F2E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063240" y="19202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eval 실행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E7C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35개 채점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120640" y="2468880"/>
            <a:ext cx="320040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486400" y="1920240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0" y="19202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숫자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Hit@1·MRR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543800" y="2468880"/>
            <a:ext cx="320040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909560" y="1920240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E8ED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909560" y="19202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좋아졌나?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098280" y="1508760"/>
            <a:ext cx="1417320" cy="548640"/>
          </a:xfrm>
          <a:prstGeom prst="roundRect">
            <a:avLst>
              <a:gd name="adj" fmla="val 16667"/>
            </a:avLst>
          </a:prstGeom>
          <a:solidFill>
            <a:srgbClr val="E6F2EF"/>
          </a:solidFill>
          <a:ln/>
        </p:spPr>
      </p:sp>
      <p:sp>
        <p:nvSpPr>
          <p:cNvPr id="16" name="Text 14"/>
          <p:cNvSpPr/>
          <p:nvPr/>
        </p:nvSpPr>
        <p:spPr>
          <a:xfrm>
            <a:off x="9098280" y="150876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7C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예 → 출시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98280" y="2834640"/>
            <a:ext cx="1417320" cy="548640"/>
          </a:xfrm>
          <a:prstGeom prst="roundRect">
            <a:avLst>
              <a:gd name="adj" fmla="val 16667"/>
            </a:avLst>
          </a:prstGeom>
          <a:solidFill>
            <a:srgbClr val="FBEFE2"/>
          </a:solidFill>
          <a:ln/>
        </p:spPr>
      </p:sp>
      <p:sp>
        <p:nvSpPr>
          <p:cNvPr id="18" name="Text 16"/>
          <p:cNvSpPr/>
          <p:nvPr/>
        </p:nvSpPr>
        <p:spPr>
          <a:xfrm>
            <a:off x="9098280" y="28346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아니오 → 보류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3566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원칙: 증명 전엔 출시 안 함 (prove-before-ship)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" y="406908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E6F2E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8680" y="40690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P1 · P2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840480" y="40690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출시 ✅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577840" y="406908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Hit@1 52.9% → 82.4% (누적 +29.5%p)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50749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BEFE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68680" y="50749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P3 (코드 AST 청킹)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840480" y="507492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보류 🛑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577840" y="507492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리서치는 추천했지만 우리 채점에선 하이브리드에 효과 0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정리 — 네 개만 기억하면 됩니다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737360"/>
            <a:ext cx="548640" cy="548640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00200" y="16916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7C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RAG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0" y="16916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답하기 전에 관련 자료를 찾아 같이 준다 (오픈북)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651760"/>
            <a:ext cx="548640" cy="54864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00200" y="26060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40A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하이브리드 검색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572000" y="26060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키워드+의미+심볼을 순위로 합쳐 가장 잘 찾는다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3566160"/>
            <a:ext cx="548640" cy="54864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566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00200" y="35204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4530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하네스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572000" y="35204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계획→실행→재계획으로 LLM을 묶어 어려운 일을 시킨다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2960" y="448056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480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00200" y="44348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증명 문화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572000" y="44348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바꿀 때마다 숫자(eval)로 좋아졌는지 확인한다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1520" y="5577840"/>
            <a:ext cx="10698480" cy="777240"/>
          </a:xfrm>
          <a:prstGeom prst="roundRect">
            <a:avLst>
              <a:gd name="adj" fmla="val 11765"/>
            </a:avLst>
          </a:prstGeom>
          <a:solidFill>
            <a:srgbClr val="1E40AF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557784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이제 깊게 읽을 차례 →  docs/learn/01-rag-harness-explainer.md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Ariadne 완전 해설</dc:title>
  <dc:subject>PptxGenJS Presentation</dc:subject>
  <dc:creator>Ariadne</dc:creator>
  <cp:lastModifiedBy>Ariadne</cp:lastModifiedBy>
  <cp:revision>1</cp:revision>
  <dcterms:created xsi:type="dcterms:W3CDTF">2026-06-06T02:55:18Z</dcterms:created>
  <dcterms:modified xsi:type="dcterms:W3CDTF">2026-06-06T02:55:18Z</dcterms:modified>
</cp:coreProperties>
</file>