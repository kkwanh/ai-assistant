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마스터 코스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큰 그림에서 바닥까지 — 기초 0에서 전체 기술까지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8076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0E7C66"/>
          </a:solidFill>
          <a:ln/>
        </p:spPr>
      </p:sp>
      <p:sp>
        <p:nvSpPr>
          <p:cNvPr id="5" name="Text 3"/>
          <p:cNvSpPr/>
          <p:nvPr/>
        </p:nvSpPr>
        <p:spPr>
          <a:xfrm>
            <a:off x="608076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4308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464308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트랜스포머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0540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4320540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6772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176772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추론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33004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004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증강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89236" y="4846320"/>
            <a:ext cx="1691640" cy="594360"/>
          </a:xfrm>
          <a:prstGeom prst="roundRect">
            <a:avLst>
              <a:gd name="adj" fmla="val 49231"/>
            </a:avLst>
          </a:prstGeom>
          <a:solidFill>
            <a:srgbClr val="0E7C66"/>
          </a:solidFill>
          <a:ln/>
        </p:spPr>
      </p:sp>
      <p:sp>
        <p:nvSpPr>
          <p:cNvPr id="15" name="Text 13"/>
          <p:cNvSpPr/>
          <p:nvPr/>
        </p:nvSpPr>
        <p:spPr>
          <a:xfrm>
            <a:off x="9889236" y="4846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코스 지도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6개 모듈, 위에서 아래로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토큰·임베딩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신경망·확률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9424" y="338328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04872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04872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트랜스포머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78024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어텐션이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05656" y="338328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61104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61104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학습·정렬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34256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사전학습·RLHF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추론모델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61888" y="338328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17336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17336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추론·효율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디코딩·KV캐시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양자화·서빙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338328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73568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증강·에이전트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RAG·툴·MCP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674352" y="3383280"/>
            <a:ext cx="14630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246888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업계·생태계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02952" y="33375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제작사·오픈vs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클로즈·트렌드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개념은 일상 비유 → 그림 → 기술 디테일 순서로. 길을 잃으면 “지금 어느 모듈?”을 떠올리세요.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4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4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5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5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5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 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LLM을 보는 4개의 렌즈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표현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말을 숫자로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토큰·임베딩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0128" y="3474720"/>
            <a:ext cx="19202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20116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계산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0332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문맥 섞기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어텐션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88" y="3474720"/>
            <a:ext cx="19202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0116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좋은 숫자로 조정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사전학습·정렬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70848" y="3474720"/>
            <a:ext cx="192024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81160" y="201168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사용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6404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생성·증강·정렬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6404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추론·RAG·에이전트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복잡해 보여도 LLM은 결국 이 네 질문으로 환원됩니다.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LLM은 거대한 함수 하나다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320040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90088" y="2468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81528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번호로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01768" y="320040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0096" y="2468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31536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임베딩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51776" y="320040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90104" y="2468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81544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트랜스포머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(수십 층)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701784" y="3200400"/>
            <a:ext cx="29260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40112" y="246888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131552" y="246888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토큰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07040" y="4480560"/>
            <a:ext cx="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↩ 한 토큰 고르고 → 붙이고 → 다시 함수에 (자기회귀). 이 반복이 문장이 됩니다.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출력은 “정답”이 아니라 모든 후보 토큰에 매긴 확률분포입니다.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토큰화 — 글자를 번호로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컴퓨터는 숫자만 안다. 텍스트를 자주 쓰는 조각(토큰)으로 쪼개 번호를 붙인다. (레고 부품 번호표)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43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'딸기 케이크'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3108960"/>
            <a:ext cx="45720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28346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6F2EF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딸기 (4821)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8346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6F2E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케이 (9013)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28346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E6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 (77)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≠ 단어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영어 1토큰≈0.75단어. 한국어·코드는 더 잘게 = 더 비쌈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61688" y="4023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0288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BPE 방식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0288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자주 같이 나오는 글자쌍을 묶어 사전 구성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3296" y="402336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1896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글자 질문에 약함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11896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'r이 몇 개?' — 모델은 글자가 아닌 토큰 덩어리로 봄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임베딩 — 번호를 의미 벡터로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번호(4821)는 뜻이 없다. 각 토큰을 수백~수천 숫자(벡터)로 바꾼다. 학습 후 뜻이 비슷하면 벡터가 가까워진다.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의미의 지도 (벡터 공간)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84048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3657600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475488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4572000"/>
            <a:ext cx="201168" cy="201168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5120640"/>
            <a:ext cx="201168" cy="20116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5349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“왕 − 남자 + 여자 ≈ 여왕” 같은 의미 산수가 성립할 정도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80960" y="265176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중요?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32918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차원↑ = 더 섬세, 더 무거움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문장 전체 임베딩 → RAG 의미검색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검색·추천·분류의 토대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nomic-embed 등이 임베딩 전용 모델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기초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신경망 — 손잡이를 돌려 함수를 빚다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신경망 = 곱하고·더하고(행렬곱) 중간에 구부리기(비선형)를 여러 층 쌓은 거대 함수. 그 곱셈의 숫자 = 파라미터(손잡이).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거대한 믹싱 콘솔 🎛️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수십억 개 손잡이(파라미터). 처음엔 엉터리 소리(출력). 정답과 비교해 “이 손잡이를 살짝” 을 수십억 번 → 멋진 소리.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“8B/70B” = 손잡이 개수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구부리기가 핵심 (없으면 직선뿐)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60604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 = 안개 산에서 골짜기로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32918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손실(loss): 정답과 빗나간 정도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기울기(gradient): 손잡이를 어디로 돌리면 손실↓? (역전파)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경사하강: 그 방향으로 살짝 이동, 반복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발밑 경사를 느껴 가장 낮은 곳으로 한 걸음씩 — 이게 모든 딥러닝의 엔진.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트랜스포머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어텐션 — 누구를 얼마나 볼까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토큰이 다른 모든 토큰을 “얼마나 참고할지” 가중치를 매기고, 그 가중치로 정보를 섞어 자기 의미를 갱신한다.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256032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2560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'은행' (이해하려는 토큰)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931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'내가' (0.05)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3291840"/>
            <a:ext cx="-434340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39319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3931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'갔는데' (0.10)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291840"/>
            <a:ext cx="-132588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9319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3931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'강물' (0.70)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291840"/>
            <a:ext cx="1691640" cy="64008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39319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0" y="3931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'흐르더라' (0.15)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3291840"/>
            <a:ext cx="470916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49834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0" y="4983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가중평균 → '은행'의 새 의미 = 강둑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트랜스포머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Query · Key · Value — 도서관 비유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Query (질의)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“내가 찾는 것” 메모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토큰이 뭘 알고 싶나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Key (열쇠)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책의 “주제 태그”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토큰이 “나 이런 정보 있음” 광고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Value (값)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책의 실제 내용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참고될 때 전달되는 정보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DD3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Attention(Q,K,V) = softmax( Q·Kᵀ / √d ) · V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5138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Q로 묻고 → K로 매칭 점수 → softmax로 가중치 → V를 섞는다.  이 한 줄이 LLM의 거의 전부.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트랜스포머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멀티헤드 + 트랜스포머 블록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멀티헤드 — 여러 관점 동시에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어텐션을 여러 개(헤드) 병렬로. 한 문장을 여러 전문가가 동시 분석: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헤드1 = 문법(주어-동사)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헤드2 = 지시어(이것=무엇)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헤드3 = 장거리 주제 연결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결과를 합침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블록 = 어텐션 + FFN + 잔차 + 정규화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37960" y="260604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멀티헤드 셀프어텐션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토큰끼리 정보 섞기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35661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FFN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4005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토큰별로 한 번 더 가공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45262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잔차 &amp; 정규화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965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깊게 쌓아도 안 망가지게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블록을 수십~수백 층 쌓으면 GPT — 아래층은 문법, 위층은 의미·추론.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학습·정렬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빈 모델 → 똑똑한 비서, 3단계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사전학습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인터넷으로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다음토큰 맞히기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지식·언어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333756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2860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SFT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좋은 질문-답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 모방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비서 말투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333756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22860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정렬 RLHF/DPO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선호로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다듬기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도움·안전·성격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스케일링 법칙: 키우면 예측 가능하게 똑똑해짐 (단, 데이터도 비례 — Chinchilla).  추론모델 = 생각을 더 시켜 성능↑.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학습·정렬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환각은 왜 생기나 — 필연적 부작용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목표가 “그럴듯함”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(≠ 진실)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61688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44568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“모른다”를 모름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(빈칸은 무조건 채움)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83296" y="1920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66176" y="1920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지식이 흐릿한 기억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(정확한 출처 아님)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0760" y="3383280"/>
            <a:ext cx="0" cy="45720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393192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9319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환각 (그럴듯한 거짓말)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80760" y="4663440"/>
            <a:ext cx="0" cy="41148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554480" y="5074920"/>
            <a:ext cx="9052560" cy="777240"/>
          </a:xfrm>
          <a:prstGeom prst="roundRect">
            <a:avLst>
              <a:gd name="adj" fmla="val 11765"/>
            </a:avLst>
          </a:prstGeom>
          <a:solidFill>
            <a:srgbClr val="E6F2EF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5074920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완화책: RAG(근거 제공) + 정렬(불확실성 표현) + 도구(사실 위임) + 평가(측정)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추론·효율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= prefill + decode, 그리고 KV 캐시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Prefill (선행)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 전체를 한 번에 병렬 계산 → 첫 글자까지 시간(TTFT)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Decode (생성)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토큰을 한 개씩 순차 생성 → 느림의 본질 (출력 길수록 느림)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972800" cy="2194560"/>
          </a:xfrm>
          <a:prstGeom prst="roundRect">
            <a:avLst>
              <a:gd name="adj" fmla="val 3333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KV 캐시 — 속도의 핵심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 토큰마다 이전 전부를 다시 계산하면 낭비. 이전 토큰들의 Key·Value를 저장해두고 재사용 → “전체 다시”가 아니라 “새 토큰만 추가”.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대가: 메모리 (문맥 길수록 커짐) → q8 KV 캐시로 압축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프롬프트 캐싱: 앞부분이 같으면 그 계산을 건너뜀 → “앞부분을 고정하라”의 이유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추론·효율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가볍고 빠르게 — 효율 3대장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양자화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16비트 → 4·8비트로 압축. 메모리·속도↑, 품질 손실 작음. 70B를 노트북에서. (GGUF, Q4_K_M)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031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492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MoE (전문가 혼합)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FFN을 여러 전문가로 쪼개 토큰마다 일부만 활성화. 총 파라미터 크되 계산은 적게. (전문의 병원)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10312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8972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Speculative Decoding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8803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작은 초안모델이 다음 몇 토큰 추측 → 큰 모델이 한 번에 검증. 2~3배 빠름, 품질 동일(무손실).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그리고: 배칭(여러 요청 묶어 GPU 꽉 채움) + 서빙엔진(vLLM/Ollama)으로 “많이”.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증강·에이전트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모델은 고정, 바깥에서 능력 확장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프롬프트/컨텍스트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입력을 잘 짜기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압축·캐싱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329184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22860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9476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관련 자료 넣기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환각↓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92240" y="22860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능력 호출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(모델 결정,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하네스 실행)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3291840"/>
            <a:ext cx="27432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26880" y="228600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2560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6404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계획→실행→재계획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루프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원칙: 가장 단순한 것부터. 에이전트 복잡도는 평가가 정당화할 때만 (지연·비용 ↔ 성능).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증강·에이전트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RAG(오픈북) + 도구 + MCP + 멀티모달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 — 검색 증강 생성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 전에 관련 자료를 찾아 같이 넣기. 키워드+의미+심볼을 RRF로 합치는 하이브리드가 최강. 검색을 잘하면 작은 모델도 똑똑해 보인다.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도구 · MCP · 멀티모달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도구: 모델이 “호출 요청”, 하네스가 실제 실행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MCP: 도구의 표준 콘센트(USB-C)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멀티모달: 이미지·음성도 토큰으로 → 같이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728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51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루프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7548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7208" y="5074920"/>
            <a:ext cx="25603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63240" y="47548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01768" y="5074920"/>
            <a:ext cx="25603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57800" y="47548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행동(도구)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96328" y="5074920"/>
            <a:ext cx="25603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47548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90888" y="5074920"/>
            <a:ext cx="256032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46920" y="47548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4754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↩ 부족하면 재계획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업계·생태계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LLM은 여러 층의 산업이다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1E9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앱·제품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 · Cursor · Perplexity · Ariadne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0"/>
            <a:ext cx="0" cy="9144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283464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모델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 · Claude · Gemini · Llama · Qwen · DeepSeek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3749040"/>
            <a:ext cx="0" cy="9144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71600" y="384048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학습·서빙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PyTorch · Hugging Face · vLLM · Ollama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4754880"/>
            <a:ext cx="0" cy="9144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1600" y="484632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4592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하드웨어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4846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NVIDIA GPU(CUDA) · TPU · 클라우드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칩(NVIDIA)과 앱(제품)이 돈을 벌고, 가운데 모델 층은 오픈모델 때문에 빠르게 상품화되는 중.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1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2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2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3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3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업계·생태계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 vs 클로즈드 — 가장 중요한 분기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8ED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클로즈드 (API)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 · Claude · Gemini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최강 프런티어 성능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운영 불필요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 비용·종속·데이터 외부 전송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E6F2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2057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 웨이트 (다운로드)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17920" y="2560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Llama · Qwen · DeepSeek · Mistral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프라이버시·통제·무료 구동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내 PC에서 (Ollama)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 보통 프런티어보다 한 발 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역학: 프런티어가 앞서면 → 몇 달 뒤 오픈 모델이 따라와 → 그 능력을 무료·저가로 상품화. (Ariadne의 local-first가 의미 있는 이유)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업계·생태계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어디로 가나 — 트렌드 (2024~2026)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추론 모델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생각하고 답 (test-time compute)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0312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단발 답 → 스스로 여러 단계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10312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0" y="21214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초장문 컨텍스트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2670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100K~1M (단 중간 잊음은 숙제)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이미지·음성·영상이 기본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34747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035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온디바이스 소형화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폰·노트북에서, 라우팅으로 분업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34747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374904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4400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폭락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성능 토큰값 매년 급락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표준화(MCP 등) · 안전/규제(정렬·레드팀·EU AI Act).  구체 순위는 분기마다 바뀌지만 이 방향은 견고.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코스 완주 — 한 장으로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표현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66160" y="1463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토큰·임베딩으로 말을 숫자로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221992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176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계산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176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어텐션(트랜스포머)으로 문맥을 섞어 다음 토큰 예측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2935224"/>
            <a:ext cx="502920" cy="50292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88950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학습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288950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사전학습→SFT→정렬→추론으로 똑똑하고 안전하게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60273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사용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66160" y="360273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디코딩·KV캐시·양자화·서빙으로 빠르고 싸게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4361688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3159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증강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566160" y="43159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RAG·도구·에이전트로 한계를 넘는다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54480" y="5029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업계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566160" y="5029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오픈⇄클로즈 상품화, 평가는 내 골든셋이 진실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31520" y="585216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8521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깊게 읽기 →  docs/learn/03-llm-mastery/  (모듈 6개)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마스터 코스</dc:title>
  <dc:subject>PptxGenJS Presentation</dc:subject>
  <dc:creator>LLM Mastery</dc:creator>
  <cp:lastModifiedBy>LLM Mastery</cp:lastModifiedBy>
  <cp:revision>1</cp:revision>
  <dcterms:created xsi:type="dcterms:W3CDTF">2026-06-06T03:21:43Z</dcterms:created>
  <dcterms:modified xsi:type="dcterms:W3CDTF">2026-06-06T03:21:43Z</dcterms:modified>
</cp:coreProperties>
</file>